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4" r:id="rId2"/>
    <p:sldId id="273" r:id="rId3"/>
    <p:sldId id="256" r:id="rId4"/>
    <p:sldId id="257" r:id="rId5"/>
    <p:sldId id="259" r:id="rId6"/>
    <p:sldId id="260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7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41-4882-884D-260464966336}"/>
              </c:ext>
            </c:extLst>
          </c:dPt>
          <c:dPt>
            <c:idx val="1"/>
            <c:bubble3D val="0"/>
            <c:spPr>
              <a:solidFill>
                <a:srgbClr val="B6A2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41-4882-884D-260464966336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41-4882-884D-260464966336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41-4882-884D-26046496633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Low Fat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5517</c:v>
                </c:pt>
                <c:pt idx="1">
                  <c:v>3006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41-4882-884D-26046496633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8d902ba-745c-409f-be54-5e3af8e05f51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 Type</c:v>
                </c:pt>
              </c:strCache>
            </c:strRef>
          </c:tx>
          <c:spPr>
            <a:solidFill>
              <a:srgbClr val="2EC7C9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Fruits and Vegetables</c:v>
                </c:pt>
                <c:pt idx="1">
                  <c:v>Snack Foods</c:v>
                </c:pt>
                <c:pt idx="2">
                  <c:v>Household</c:v>
                </c:pt>
                <c:pt idx="3">
                  <c:v>Frozen Foods</c:v>
                </c:pt>
                <c:pt idx="4">
                  <c:v>Dairy</c:v>
                </c:pt>
                <c:pt idx="5">
                  <c:v>Canned</c:v>
                </c:pt>
                <c:pt idx="6">
                  <c:v>Baking Goods</c:v>
                </c:pt>
                <c:pt idx="7">
                  <c:v>Health and Hygiene</c:v>
                </c:pt>
                <c:pt idx="8">
                  <c:v>Meat</c:v>
                </c:pt>
                <c:pt idx="9">
                  <c:v>Soft Drinks</c:v>
                </c:pt>
                <c:pt idx="10">
                  <c:v>Breads</c:v>
                </c:pt>
                <c:pt idx="11">
                  <c:v>Hard Drinks</c:v>
                </c:pt>
                <c:pt idx="12">
                  <c:v>Others</c:v>
                </c:pt>
                <c:pt idx="13">
                  <c:v>Starchy Foods</c:v>
                </c:pt>
                <c:pt idx="14">
                  <c:v>Breakfast</c:v>
                </c:pt>
                <c:pt idx="15">
                  <c:v>Seafood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178124.111</c:v>
                </c:pt>
                <c:pt idx="1">
                  <c:v>175433.89199999999</c:v>
                </c:pt>
                <c:pt idx="2">
                  <c:v>135976.51800000001</c:v>
                </c:pt>
                <c:pt idx="3">
                  <c:v>118558.928</c:v>
                </c:pt>
                <c:pt idx="4">
                  <c:v>101276.465</c:v>
                </c:pt>
                <c:pt idx="5">
                  <c:v>90706.713000000003</c:v>
                </c:pt>
                <c:pt idx="6">
                  <c:v>81894.710000000006</c:v>
                </c:pt>
                <c:pt idx="7">
                  <c:v>68025.808000000005</c:v>
                </c:pt>
                <c:pt idx="8">
                  <c:v>59449.875</c:v>
                </c:pt>
                <c:pt idx="9">
                  <c:v>58514.156000000003</c:v>
                </c:pt>
                <c:pt idx="10">
                  <c:v>35379.129000000001</c:v>
                </c:pt>
                <c:pt idx="11">
                  <c:v>29334.682000000001</c:v>
                </c:pt>
                <c:pt idx="12">
                  <c:v>22451.896000000001</c:v>
                </c:pt>
                <c:pt idx="13">
                  <c:v>21880.025000000001</c:v>
                </c:pt>
                <c:pt idx="14">
                  <c:v>15596.692999999999</c:v>
                </c:pt>
                <c:pt idx="15">
                  <c:v>9077.8670000000002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A0D-428C-8887-9D25FD0B8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the total sales amount for each item type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e9a5e33-06c9-41b6-bcad-773062ddc308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Outlet Establishment Year</c:v>
                </c:pt>
              </c:strCache>
            </c:strRef>
          </c:tx>
          <c:spPr>
            <a:ln w="25400" cap="flat" cmpd="sng" algn="ctr">
              <a:solidFill>
                <a:srgbClr val="2EC7C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7C9"/>
              </a:solidFill>
              <a:ln w="9525" cap="flat" cmpd="sng" algn="ctr">
                <a:solidFill>
                  <a:srgbClr val="2EC7C9"/>
                </a:solidFill>
                <a:prstDash val="solid"/>
                <a:round/>
              </a:ln>
              <a:effectLst/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2020</c:v>
                </c:pt>
                <c:pt idx="8">
                  <c:v>2022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78131.554000000004</c:v>
                </c:pt>
                <c:pt idx="1">
                  <c:v>130476.85400000001</c:v>
                </c:pt>
                <c:pt idx="2">
                  <c:v>131809.019</c:v>
                </c:pt>
                <c:pt idx="3">
                  <c:v>130942.77099999999</c:v>
                </c:pt>
                <c:pt idx="4">
                  <c:v>132113.37899999999</c:v>
                </c:pt>
                <c:pt idx="5">
                  <c:v>133103.91099999999</c:v>
                </c:pt>
                <c:pt idx="6">
                  <c:v>204522.242</c:v>
                </c:pt>
                <c:pt idx="7">
                  <c:v>129103.961</c:v>
                </c:pt>
                <c:pt idx="8">
                  <c:v>131477.777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ABC-4B25-89A7-CB662C867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the total sales for each outlet establishment year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183ce1a-be38-47ad-85ea-bb91703f77b9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Outlet Location Type</c:v>
                </c:pt>
              </c:strCache>
            </c:strRef>
          </c:tx>
          <c:spPr>
            <a:solidFill>
              <a:srgbClr val="2EC7C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336397.804</c:v>
                </c:pt>
                <c:pt idx="1">
                  <c:v>393150.64299999998</c:v>
                </c:pt>
                <c:pt idx="2">
                  <c:v>472133.02100000001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DB-4D82-8CF8-F8D872E94A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total sales amount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d2290e9-b25e-4c4a-8ed3-925d033fa14e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Outlet Establishment Year</c:v>
                </c:pt>
              </c:strCache>
            </c:strRef>
          </c:tx>
          <c:spPr>
            <a:ln w="25400" cap="flat" cmpd="sng" algn="ctr">
              <a:solidFill>
                <a:srgbClr val="2EC7C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7C9"/>
              </a:solidFill>
              <a:ln w="9525" cap="flat" cmpd="sng" algn="ctr">
                <a:solidFill>
                  <a:srgbClr val="2EC7C9"/>
                </a:solidFill>
                <a:prstDash val="solid"/>
                <a:round/>
              </a:ln>
              <a:effectLst/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2020</c:v>
                </c:pt>
                <c:pt idx="8">
                  <c:v>2022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78131.554000000004</c:v>
                </c:pt>
                <c:pt idx="1">
                  <c:v>130476.85400000001</c:v>
                </c:pt>
                <c:pt idx="2">
                  <c:v>131809.019</c:v>
                </c:pt>
                <c:pt idx="3">
                  <c:v>130942.77099999999</c:v>
                </c:pt>
                <c:pt idx="4">
                  <c:v>132113.37899999999</c:v>
                </c:pt>
                <c:pt idx="5">
                  <c:v>133103.91099999999</c:v>
                </c:pt>
                <c:pt idx="6">
                  <c:v>204522.242</c:v>
                </c:pt>
                <c:pt idx="7">
                  <c:v>129103.961</c:v>
                </c:pt>
                <c:pt idx="8">
                  <c:v>131477.777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94BD-4B5F-98F3-84794DBA0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total sales amount for the outlet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5ad0b48-e037-4fa1-967a-4b9311425f3f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897731"/>
            <a:ext cx="8207375" cy="8120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16894"/>
            <a:ext cx="8212138" cy="13144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81063"/>
            <a:ext cx="4038600" cy="3714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81063"/>
            <a:ext cx="4038600" cy="3714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2875"/>
            <a:ext cx="2057400" cy="4452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5"/>
            <a:ext cx="6019800" cy="4452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/>
          </p:nvPr>
        </p:nvSpPr>
        <p:spPr>
          <a:xfrm>
            <a:off x="2557780" y="2117725"/>
            <a:ext cx="4178935" cy="436880"/>
          </a:xfrm>
        </p:spPr>
        <p:txBody>
          <a:bodyPr/>
          <a:lstStyle/>
          <a:p>
            <a:r>
              <a:rPr lang="en-IN" altLang="en-US" b="1"/>
              <a:t>Project Dimensions</a:t>
            </a:r>
            <a:r>
              <a:rPr lang="en-IN" altLang="en-US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Click="0" advTm="779">
        <p14:doors dir="vert"/>
      </p:transition>
    </mc:Choice>
    <mc:Fallback xmlns="">
      <p:transition spd="med" advClick="0" advTm="779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>
                <a:latin typeface="Book Antiqua" panose="02040602050305030304" charset="0"/>
                <a:cs typeface="Book Antiqua" panose="02040602050305030304" charset="0"/>
              </a:rPr>
              <a:t>Distribution of Item Fat Content</a:t>
            </a:r>
          </a:p>
          <a:p>
            <a:r>
              <a:rPr lang="en-IN" altLang="en-US">
                <a:latin typeface="Book Antiqua" panose="02040602050305030304" charset="0"/>
                <a:cs typeface="Book Antiqua" panose="02040602050305030304" charset="0"/>
              </a:rPr>
              <a:t>Sales by Item Type</a:t>
            </a:r>
          </a:p>
          <a:p>
            <a:r>
              <a:rPr lang="en-IN" altLang="en-US">
                <a:latin typeface="Book Antiqua" panose="02040602050305030304" charset="0"/>
                <a:cs typeface="Book Antiqua" panose="02040602050305030304" charset="0"/>
              </a:rPr>
              <a:t>Sales Trend Over Years</a:t>
            </a:r>
          </a:p>
          <a:p>
            <a:r>
              <a:rPr lang="en-IN" altLang="en-US">
                <a:latin typeface="Book Antiqua" panose="02040602050305030304" charset="0"/>
                <a:cs typeface="Book Antiqua" panose="02040602050305030304" charset="0"/>
              </a:rPr>
              <a:t>Sales by Outlet Location Type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298">
        <p14:prism isInverted="1"/>
      </p:transition>
    </mc:Choice>
    <mc:Fallback xmlns="">
      <p:transition spd="slow" advTm="2298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Distribution of Item Fat Content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The dataset reveals that </a:t>
            </a:r>
            <a:r>
              <a:rPr lang="en-US" sz="800" b="1" dirty="0">
                <a:solidFill>
                  <a:srgbClr val="000000"/>
                </a:solidFill>
              </a:rPr>
              <a:t>Low Fat</a:t>
            </a:r>
            <a:r>
              <a:rPr lang="en-US" sz="800" dirty="0">
                <a:solidFill>
                  <a:srgbClr val="000000"/>
                </a:solidFill>
              </a:rPr>
              <a:t> items are more prevalent, with a count of </a:t>
            </a:r>
            <a:r>
              <a:rPr lang="en-US" sz="800" b="1" dirty="0">
                <a:solidFill>
                  <a:srgbClr val="000000"/>
                </a:solidFill>
              </a:rPr>
              <a:t>5,517</a:t>
            </a:r>
            <a:r>
              <a:rPr lang="en-US" sz="800" dirty="0">
                <a:solidFill>
                  <a:srgbClr val="000000"/>
                </a:solidFill>
              </a:rPr>
              <a:t>, compared to </a:t>
            </a:r>
            <a:r>
              <a:rPr lang="en-US" sz="800" b="1" dirty="0">
                <a:solidFill>
                  <a:srgbClr val="000000"/>
                </a:solidFill>
              </a:rPr>
              <a:t>Regular</a:t>
            </a:r>
            <a:r>
              <a:rPr lang="en-US" sz="800" dirty="0">
                <a:solidFill>
                  <a:srgbClr val="000000"/>
                </a:solidFill>
              </a:rPr>
              <a:t> items, which have a count of </a:t>
            </a:r>
            <a:r>
              <a:rPr lang="en-US" sz="800" b="1" dirty="0">
                <a:solidFill>
                  <a:srgbClr val="000000"/>
                </a:solidFill>
              </a:rPr>
              <a:t>3,006</a:t>
            </a:r>
            <a:r>
              <a:rPr lang="en-US" sz="800" dirty="0">
                <a:solidFill>
                  <a:srgbClr val="000000"/>
                </a:solidFill>
              </a:rPr>
              <a:t>. This indicates a higher consumer preference or availability for low-fat options. The significant difference in counts suggests that low-fat products might be a strategic focus for health-conscious markets or could reflect a trend in dietary preferences. Understanding these numbers can help in making informed decisions about inventory management and marketing strategies.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011680"/>
          <a:ext cx="82296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4295">
        <p14:prism/>
      </p:transition>
    </mc:Choice>
    <mc:Fallback xmlns="">
      <p:transition spd="slow" advTm="4295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Sales by Item Type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The data reveals that </a:t>
            </a:r>
            <a:r>
              <a:rPr lang="en-US" sz="800" b="1" dirty="0">
                <a:solidFill>
                  <a:srgbClr val="000000"/>
                </a:solidFill>
              </a:rPr>
              <a:t>Fruits and Vegetables</a:t>
            </a:r>
            <a:r>
              <a:rPr lang="en-US" sz="800" dirty="0">
                <a:solidFill>
                  <a:srgbClr val="000000"/>
                </a:solidFill>
              </a:rPr>
              <a:t> lead in total sales with </a:t>
            </a:r>
            <a:r>
              <a:rPr lang="en-US" sz="800" b="1" dirty="0">
                <a:solidFill>
                  <a:srgbClr val="000000"/>
                </a:solidFill>
              </a:rPr>
              <a:t>$178,124.11</a:t>
            </a:r>
            <a:r>
              <a:rPr lang="en-US" sz="800" dirty="0">
                <a:solidFill>
                  <a:srgbClr val="000000"/>
                </a:solidFill>
              </a:rPr>
              <a:t>, followed closely by </a:t>
            </a:r>
            <a:r>
              <a:rPr lang="en-US" sz="800" b="1" dirty="0">
                <a:solidFill>
                  <a:srgbClr val="000000"/>
                </a:solidFill>
              </a:rPr>
              <a:t>Snack Foods</a:t>
            </a:r>
            <a:r>
              <a:rPr lang="en-US" sz="800" dirty="0">
                <a:solidFill>
                  <a:srgbClr val="000000"/>
                </a:solidFill>
              </a:rPr>
              <a:t> at </a:t>
            </a:r>
            <a:r>
              <a:rPr lang="en-US" sz="800" b="1" dirty="0">
                <a:solidFill>
                  <a:srgbClr val="000000"/>
                </a:solidFill>
              </a:rPr>
              <a:t>$175,433.89</a:t>
            </a:r>
            <a:r>
              <a:rPr lang="en-US" sz="800" dirty="0">
                <a:solidFill>
                  <a:srgbClr val="000000"/>
                </a:solidFill>
              </a:rPr>
              <a:t>. </a:t>
            </a:r>
            <a:r>
              <a:rPr lang="en-US" sz="800" b="1" dirty="0">
                <a:solidFill>
                  <a:srgbClr val="000000"/>
                </a:solidFill>
              </a:rPr>
              <a:t>Household</a:t>
            </a:r>
            <a:r>
              <a:rPr lang="en-US" sz="800" dirty="0">
                <a:solidFill>
                  <a:srgbClr val="000000"/>
                </a:solidFill>
              </a:rPr>
              <a:t> items also show significant sales, totaling </a:t>
            </a:r>
            <a:r>
              <a:rPr lang="en-US" sz="800" b="1" dirty="0">
                <a:solidFill>
                  <a:srgbClr val="000000"/>
                </a:solidFill>
              </a:rPr>
              <a:t>$135,976.52</a:t>
            </a:r>
            <a:r>
              <a:rPr lang="en-US" sz="800" dirty="0">
                <a:solidFill>
                  <a:srgbClr val="000000"/>
                </a:solidFill>
              </a:rPr>
              <a:t>. In contrast, </a:t>
            </a:r>
            <a:r>
              <a:rPr lang="en-US" sz="800" b="1" dirty="0">
                <a:solidFill>
                  <a:srgbClr val="000000"/>
                </a:solidFill>
              </a:rPr>
              <a:t>Seafood</a:t>
            </a:r>
            <a:r>
              <a:rPr lang="en-US" sz="800" dirty="0">
                <a:solidFill>
                  <a:srgbClr val="000000"/>
                </a:solidFill>
              </a:rPr>
              <a:t> records the lowest sales at </a:t>
            </a:r>
            <a:r>
              <a:rPr lang="en-US" sz="800" b="1" dirty="0">
                <a:solidFill>
                  <a:srgbClr val="000000"/>
                </a:solidFill>
              </a:rPr>
              <a:t>$9,077.87</a:t>
            </a:r>
            <a:r>
              <a:rPr lang="en-US" sz="800" dirty="0">
                <a:solidFill>
                  <a:srgbClr val="000000"/>
                </a:solidFill>
              </a:rPr>
              <a:t>. Overall, the top three categories—Fruits and Vegetables, Snack Foods, and Household—account for a substantial portion of the sales, indicating a strong consumer preference for these items.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011680"/>
          <a:ext cx="82296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804">
        <p:wedge/>
      </p:transition>
    </mc:Choice>
    <mc:Fallback xmlns="">
      <p:transition spd="slow" advTm="2804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Sales Trend Over Years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The data reveals a </a:t>
            </a:r>
            <a:r>
              <a:rPr lang="en-US" sz="800" b="1" dirty="0">
                <a:solidFill>
                  <a:srgbClr val="000000"/>
                </a:solidFill>
              </a:rPr>
              <a:t>significant increase</a:t>
            </a:r>
            <a:r>
              <a:rPr lang="en-US" sz="800" dirty="0">
                <a:solidFill>
                  <a:srgbClr val="000000"/>
                </a:solidFill>
              </a:rPr>
              <a:t> in total sales from </a:t>
            </a:r>
            <a:r>
              <a:rPr lang="en-US" sz="800" b="1" dirty="0">
                <a:solidFill>
                  <a:srgbClr val="000000"/>
                </a:solidFill>
              </a:rPr>
              <a:t>2011</a:t>
            </a:r>
            <a:r>
              <a:rPr lang="en-US" sz="800" dirty="0">
                <a:solidFill>
                  <a:srgbClr val="000000"/>
                </a:solidFill>
              </a:rPr>
              <a:t> to </a:t>
            </a:r>
            <a:r>
              <a:rPr lang="en-US" sz="800" b="1" dirty="0">
                <a:solidFill>
                  <a:srgbClr val="000000"/>
                </a:solidFill>
              </a:rPr>
              <a:t>2018</a:t>
            </a:r>
            <a:r>
              <a:rPr lang="en-US" sz="800" dirty="0">
                <a:solidFill>
                  <a:srgbClr val="000000"/>
                </a:solidFill>
              </a:rPr>
              <a:t>, with sales peaking at </a:t>
            </a:r>
            <a:r>
              <a:rPr lang="en-US" sz="800" b="1" dirty="0">
                <a:solidFill>
                  <a:srgbClr val="000000"/>
                </a:solidFill>
              </a:rPr>
              <a:t>204,522.242</a:t>
            </a:r>
            <a:r>
              <a:rPr lang="en-US" sz="800" dirty="0">
                <a:solidFill>
                  <a:srgbClr val="000000"/>
                </a:solidFill>
              </a:rPr>
              <a:t> in 2018. This represents a substantial growth from the initial </a:t>
            </a:r>
            <a:r>
              <a:rPr lang="en-US" sz="800" b="1" dirty="0">
                <a:solidFill>
                  <a:srgbClr val="000000"/>
                </a:solidFill>
              </a:rPr>
              <a:t>78,131.554</a:t>
            </a:r>
            <a:r>
              <a:rPr lang="en-US" sz="800" dirty="0">
                <a:solidFill>
                  <a:srgbClr val="000000"/>
                </a:solidFill>
              </a:rPr>
              <a:t> in 2011. However, post-2018, there is a noticeable decline, with sales dropping to </a:t>
            </a:r>
            <a:r>
              <a:rPr lang="en-US" sz="800" b="1" dirty="0">
                <a:solidFill>
                  <a:srgbClr val="000000"/>
                </a:solidFill>
              </a:rPr>
              <a:t>129,103.961</a:t>
            </a:r>
            <a:r>
              <a:rPr lang="en-US" sz="800" dirty="0">
                <a:solidFill>
                  <a:srgbClr val="000000"/>
                </a:solidFill>
              </a:rPr>
              <a:t> in 2020. By 2022, sales slightly recover to </a:t>
            </a:r>
            <a:r>
              <a:rPr lang="en-US" sz="800" b="1" dirty="0">
                <a:solidFill>
                  <a:srgbClr val="000000"/>
                </a:solidFill>
              </a:rPr>
              <a:t>131,477.777</a:t>
            </a:r>
            <a:r>
              <a:rPr lang="en-US" sz="800" dirty="0">
                <a:solidFill>
                  <a:srgbClr val="000000"/>
                </a:solidFill>
              </a:rPr>
              <a:t>, indicating a potential stabilization. The trend suggests a period of rapid growth followed by a decline and stabilization in recent years.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011680"/>
          <a:ext cx="82296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308">
        <p15:prstTrans prst="pageCurlDouble"/>
      </p:transition>
    </mc:Choice>
    <mc:Fallback xmlns="">
      <p:transition spd="slow" advTm="2308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Sales by Outlet Location Type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The data reveals that </a:t>
            </a:r>
            <a:r>
              <a:rPr lang="en-US" sz="800" b="1" dirty="0">
                <a:solidFill>
                  <a:srgbClr val="000000"/>
                </a:solidFill>
              </a:rPr>
              <a:t>Tier 3</a:t>
            </a:r>
            <a:r>
              <a:rPr lang="en-US" sz="800" dirty="0">
                <a:solidFill>
                  <a:srgbClr val="000000"/>
                </a:solidFill>
              </a:rPr>
              <a:t> outlets have the highest total sales, amounting to </a:t>
            </a:r>
            <a:r>
              <a:rPr lang="en-US" sz="800" b="1" dirty="0">
                <a:solidFill>
                  <a:srgbClr val="000000"/>
                </a:solidFill>
              </a:rPr>
              <a:t>472,133.021</a:t>
            </a:r>
            <a:r>
              <a:rPr lang="en-US" sz="800" dirty="0">
                <a:solidFill>
                  <a:srgbClr val="000000"/>
                </a:solidFill>
              </a:rPr>
              <a:t>. This is followed by </a:t>
            </a:r>
            <a:r>
              <a:rPr lang="en-US" sz="800" b="1" dirty="0">
                <a:solidFill>
                  <a:srgbClr val="000000"/>
                </a:solidFill>
              </a:rPr>
              <a:t>Tier 2</a:t>
            </a:r>
            <a:r>
              <a:rPr lang="en-US" sz="800" dirty="0">
                <a:solidFill>
                  <a:srgbClr val="000000"/>
                </a:solidFill>
              </a:rPr>
              <a:t> outlets with total sales of </a:t>
            </a:r>
            <a:r>
              <a:rPr lang="en-US" sz="800" b="1" dirty="0">
                <a:solidFill>
                  <a:srgbClr val="000000"/>
                </a:solidFill>
              </a:rPr>
              <a:t>393,150.643</a:t>
            </a:r>
            <a:r>
              <a:rPr lang="en-US" sz="800" dirty="0">
                <a:solidFill>
                  <a:srgbClr val="000000"/>
                </a:solidFill>
              </a:rPr>
              <a:t>, and </a:t>
            </a:r>
            <a:r>
              <a:rPr lang="en-US" sz="800" b="1" dirty="0">
                <a:solidFill>
                  <a:srgbClr val="000000"/>
                </a:solidFill>
              </a:rPr>
              <a:t>Tier 1</a:t>
            </a:r>
            <a:r>
              <a:rPr lang="en-US" sz="800" dirty="0">
                <a:solidFill>
                  <a:srgbClr val="000000"/>
                </a:solidFill>
              </a:rPr>
              <a:t> outlets with the lowest sales at </a:t>
            </a:r>
            <a:r>
              <a:rPr lang="en-US" sz="800" b="1" dirty="0">
                <a:solidFill>
                  <a:srgbClr val="000000"/>
                </a:solidFill>
              </a:rPr>
              <a:t>336,397.804</a:t>
            </a:r>
            <a:r>
              <a:rPr lang="en-US" sz="800" dirty="0">
                <a:solidFill>
                  <a:srgbClr val="000000"/>
                </a:solidFill>
              </a:rPr>
              <a:t>. The trend indicates a positive correlation between the tier level and total sales, suggesting that higher-tier locations may benefit from factors such as increased foot traffic or higher spending power. This insight could guide strategic decisions on resource allocation and marketing focus.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011680"/>
          <a:ext cx="82296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891">
        <p:split orient="vert" dir="in"/>
      </p:transition>
    </mc:Choice>
    <mc:Fallback xmlns="">
      <p:transition spd="slow" advTm="2891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Sales by Outlet Establishment Year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The data reveals a </a:t>
            </a:r>
            <a:r>
              <a:rPr lang="en-US" sz="800" b="1" dirty="0">
                <a:solidFill>
                  <a:srgbClr val="000000"/>
                </a:solidFill>
              </a:rPr>
              <a:t>steady increase in total sales</a:t>
            </a:r>
            <a:r>
              <a:rPr lang="en-US" sz="800" dirty="0">
                <a:solidFill>
                  <a:srgbClr val="000000"/>
                </a:solidFill>
              </a:rPr>
              <a:t> from 2011 to 2018, with a significant peak in 2018 at </a:t>
            </a:r>
            <a:r>
              <a:rPr lang="en-US" sz="800" b="1" dirty="0">
                <a:solidFill>
                  <a:srgbClr val="000000"/>
                </a:solidFill>
              </a:rPr>
              <a:t>$204,522.24</a:t>
            </a:r>
            <a:r>
              <a:rPr lang="en-US" sz="800" dirty="0">
                <a:solidFill>
                  <a:srgbClr val="000000"/>
                </a:solidFill>
              </a:rPr>
              <a:t>. Post-2018, there is a noticeable decline in sales, reaching a low of </a:t>
            </a:r>
            <a:r>
              <a:rPr lang="en-US" sz="800" b="1" dirty="0">
                <a:solidFill>
                  <a:srgbClr val="000000"/>
                </a:solidFill>
              </a:rPr>
              <a:t>$129,103.96</a:t>
            </a:r>
            <a:r>
              <a:rPr lang="en-US" sz="800" dirty="0">
                <a:solidFill>
                  <a:srgbClr val="000000"/>
                </a:solidFill>
              </a:rPr>
              <a:t> in 2020. However, sales slightly recover by 2022 to </a:t>
            </a:r>
            <a:r>
              <a:rPr lang="en-US" sz="800" b="1" dirty="0">
                <a:solidFill>
                  <a:srgbClr val="000000"/>
                </a:solidFill>
              </a:rPr>
              <a:t>$131,477.78</a:t>
            </a:r>
            <a:r>
              <a:rPr lang="en-US" sz="800" dirty="0">
                <a:solidFill>
                  <a:srgbClr val="000000"/>
                </a:solidFill>
              </a:rPr>
              <a:t>. The </a:t>
            </a:r>
            <a:r>
              <a:rPr lang="en-US" sz="800" b="1" dirty="0">
                <a:solidFill>
                  <a:srgbClr val="000000"/>
                </a:solidFill>
              </a:rPr>
              <a:t>2018 sales peak</a:t>
            </a:r>
            <a:r>
              <a:rPr lang="en-US" sz="800" dirty="0">
                <a:solidFill>
                  <a:srgbClr val="000000"/>
                </a:solidFill>
              </a:rPr>
              <a:t> suggests a potential market event or strategy that significantly boosted sales, while the subsequent decline indicates challenges or market changes that need addressing.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2011680"/>
          <a:ext cx="82296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964">
        <p15:prstTrans prst="peelOff"/>
      </p:transition>
    </mc:Choice>
    <mc:Fallback xmlns="">
      <p:transition spd="slow" advTm="2964">
        <p:fade/>
      </p:transition>
    </mc:Fallback>
  </mc:AlternateContent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492</Words>
  <Application>Microsoft Office PowerPoint</Application>
  <PresentationFormat>On-screen Show (16:9)</PresentationFormat>
  <Paragraphs>25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 Antiqua</vt:lpstr>
      <vt:lpstr>Calibri</vt:lpstr>
      <vt:lpstr>Times New Roman</vt:lpstr>
      <vt:lpstr>Blue Waves</vt:lpstr>
      <vt:lpstr>Project Dimensions 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trishanthi 2224</cp:lastModifiedBy>
  <cp:revision>6</cp:revision>
  <dcterms:created xsi:type="dcterms:W3CDTF">2024-12-03T15:08:00Z</dcterms:created>
  <dcterms:modified xsi:type="dcterms:W3CDTF">2025-09-28T07:03:57Z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24481993D30E4AA883965967BB8F8A46_13</vt:lpwstr>
  </property>
  <property fmtid="{D5CDD505-2E9C-101B-9397-08002B2CF9AE}" pid="3" name="KSOProductBuildVer">
    <vt:lpwstr>1033-12.2.0.18911</vt:lpwstr>
  </property>
</Properties>
</file>